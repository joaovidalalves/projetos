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3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TALENTBASE  ·  ENTREGA 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423160"/>
            <a:ext cx="7680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Diagrama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Entidade-Relacionamento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1605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8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lógica de negócio (Entrega 1) ao modelo de dados MySQL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9464040" y="1417320"/>
            <a:ext cx="1051560" cy="868680"/>
          </a:xfrm>
          <a:prstGeom prst="line">
            <a:avLst/>
          </a:prstGeom>
          <a:noFill/>
          <a:ln w="19050">
            <a:solidFill>
              <a:srgbClr val="3A45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9464040" y="2606040"/>
            <a:ext cx="1051560" cy="868680"/>
          </a:xfrm>
          <a:prstGeom prst="line">
            <a:avLst/>
          </a:prstGeom>
          <a:noFill/>
          <a:ln w="19050">
            <a:solidFill>
              <a:srgbClr val="3A45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1005840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242E26"/>
          </a:solidFill>
          <a:ln w="12700">
            <a:solidFill>
              <a:srgbClr val="3A45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0" y="1005840"/>
            <a:ext cx="1417320" cy="274320"/>
          </a:xfrm>
          <a:prstGeom prst="roundRect">
            <a:avLst>
              <a:gd name="adj" fmla="val 20000"/>
            </a:avLst>
          </a:prstGeom>
          <a:solidFill>
            <a:srgbClr val="2F6F4E"/>
          </a:solidFill>
          <a:ln/>
        </p:spPr>
      </p:sp>
      <p:sp>
        <p:nvSpPr>
          <p:cNvPr id="9" name="Shape 7"/>
          <p:cNvSpPr/>
          <p:nvPr/>
        </p:nvSpPr>
        <p:spPr>
          <a:xfrm>
            <a:off x="8778240" y="1143000"/>
            <a:ext cx="1417320" cy="137160"/>
          </a:xfrm>
          <a:prstGeom prst="rect">
            <a:avLst/>
          </a:prstGeom>
          <a:solidFill>
            <a:srgbClr val="2F6F4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778240" y="10058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candidato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0378440" y="2148840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242E26"/>
          </a:solidFill>
          <a:ln w="12700">
            <a:solidFill>
              <a:srgbClr val="3A45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78440" y="2148840"/>
            <a:ext cx="1417320" cy="274320"/>
          </a:xfrm>
          <a:prstGeom prst="roundRect">
            <a:avLst>
              <a:gd name="adj" fmla="val 20000"/>
            </a:avLst>
          </a:prstGeom>
          <a:solidFill>
            <a:srgbClr val="2F6F4E"/>
          </a:solidFill>
          <a:ln/>
        </p:spPr>
      </p:sp>
      <p:sp>
        <p:nvSpPr>
          <p:cNvPr id="13" name="Shape 11"/>
          <p:cNvSpPr/>
          <p:nvPr/>
        </p:nvSpPr>
        <p:spPr>
          <a:xfrm>
            <a:off x="10378440" y="2286000"/>
            <a:ext cx="1417320" cy="137160"/>
          </a:xfrm>
          <a:prstGeom prst="rect">
            <a:avLst/>
          </a:prstGeom>
          <a:solidFill>
            <a:srgbClr val="2F6F4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378440" y="21488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candidatura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778240" y="3246120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242E26"/>
          </a:solidFill>
          <a:ln w="12700">
            <a:solidFill>
              <a:srgbClr val="3A45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78240" y="3246120"/>
            <a:ext cx="1417320" cy="274320"/>
          </a:xfrm>
          <a:prstGeom prst="roundRect">
            <a:avLst>
              <a:gd name="adj" fmla="val 20000"/>
            </a:avLst>
          </a:prstGeom>
          <a:solidFill>
            <a:srgbClr val="2F6F4E"/>
          </a:solidFill>
          <a:ln/>
        </p:spPr>
      </p:sp>
      <p:sp>
        <p:nvSpPr>
          <p:cNvPr id="17" name="Shape 15"/>
          <p:cNvSpPr/>
          <p:nvPr/>
        </p:nvSpPr>
        <p:spPr>
          <a:xfrm>
            <a:off x="8778240" y="3383280"/>
            <a:ext cx="1417320" cy="137160"/>
          </a:xfrm>
          <a:prstGeom prst="rect">
            <a:avLst/>
          </a:prstGeom>
          <a:solidFill>
            <a:srgbClr val="2F6F4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778240" y="32461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vaga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6126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8D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Técnico — Modelagem de Dados  ·  30/08/2026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AQUECIMENTO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Recapitulando o TalentBase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2F6F4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6420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993392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E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 de RH gerenciam vagas e candidatos em planilhas soltas: sem histórico de status, sem padronização de habilidades e sem um portal para o candidato acompanhar o processo.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457200" cy="457200"/>
          </a:xfrm>
          <a:prstGeom prst="ellipse">
            <a:avLst/>
          </a:prstGeom>
          <a:solidFill>
            <a:srgbClr val="2F6F4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08152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solução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410712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E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portal público de vagas com candidatura on-line, e um painel de RH com pipeline de status (Novo → Análise → Entrevista → Aprovado/Reprovado) e ranking de candidatos por vaga.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526280"/>
            <a:ext cx="457200" cy="457200"/>
          </a:xfrm>
          <a:prstGeom prst="ellipse">
            <a:avLst/>
          </a:prstGeom>
          <a:solidFill>
            <a:srgbClr val="2F6F4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49884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estamos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828032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E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Entrega 1 definiu o "o quê": front-end funcional, com regras de negócio completas sobre dados mockados. Esta etapa define o "como": a estrutura de dados que sustenta tudo isso em um banco MySQL real.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TalentBase — Diagrama Entidade-Relacionamento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0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mostrar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0607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EDB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84832"/>
            <a:ext cx="457200" cy="457200"/>
          </a:xfrm>
          <a:prstGeom prst="ellipse">
            <a:avLst/>
          </a:prstGeom>
          <a:solidFill>
            <a:srgbClr val="2F6F4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938528"/>
            <a:ext cx="93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Diagrama (DER)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286000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principais, atributos e chaves primárias/estrangeiras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10607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EDBD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227832"/>
            <a:ext cx="457200" cy="457200"/>
          </a:xfrm>
          <a:prstGeom prst="ellipse">
            <a:avLst/>
          </a:prstGeom>
          <a:solidFill>
            <a:srgbClr val="C98A2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3227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3081528"/>
            <a:ext cx="93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Relacionamentos e cardinalidade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3429000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as entidades conversam entre si — 1:1, 1:N e N:M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10607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EDBD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370832"/>
            <a:ext cx="457200" cy="457200"/>
          </a:xfrm>
          <a:prstGeom prst="ellipse">
            <a:avLst/>
          </a:prstGeom>
          <a:solidFill>
            <a:srgbClr val="2F6F4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370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224528"/>
            <a:ext cx="93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Decisões de modelagem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572000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resolvemos os relacionamentos N:M e os desafios que enfrentamos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257800"/>
            <a:ext cx="106070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EDBD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5513832"/>
            <a:ext cx="457200" cy="457200"/>
          </a:xfrm>
          <a:prstGeom prst="ellipse">
            <a:avLst/>
          </a:prstGeom>
          <a:solidFill>
            <a:srgbClr val="C98A2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5513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5367528"/>
            <a:ext cx="9326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passos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554480" y="5715000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DER ao script MySQL e às classes C# do back-end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TalentBase — Diagrama Entidade-Relacionamento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0515600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DIAGRAMA (DER)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Núcleo do modelo de dados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0" y="1554480"/>
            <a:ext cx="210312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5875">
            <a:solidFill>
              <a:srgbClr val="DEDB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0" y="1554480"/>
            <a:ext cx="2103120" cy="365760"/>
          </a:xfrm>
          <a:prstGeom prst="roundRect">
            <a:avLst>
              <a:gd name="adj" fmla="val 15000"/>
            </a:avLst>
          </a:prstGeom>
          <a:solidFill>
            <a:srgbClr val="2F6F4E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0" y="1737360"/>
            <a:ext cx="2103120" cy="182880"/>
          </a:xfrm>
          <a:prstGeom prst="rect">
            <a:avLst/>
          </a:prstGeom>
          <a:solidFill>
            <a:srgbClr val="2F6F4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84064" y="155448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departamento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120640" y="1956816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E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id_departamento (PK)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E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28800" y="3017520"/>
            <a:ext cx="21945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EDBD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3017520"/>
            <a:ext cx="2194560" cy="365760"/>
          </a:xfrm>
          <a:prstGeom prst="roundRect">
            <a:avLst>
              <a:gd name="adj" fmla="val 15000"/>
            </a:avLst>
          </a:prstGeom>
          <a:solidFill>
            <a:srgbClr val="2F6F4E"/>
          </a:solidFill>
          <a:ln/>
        </p:spPr>
      </p:sp>
      <p:sp>
        <p:nvSpPr>
          <p:cNvPr id="11" name="Shape 9"/>
          <p:cNvSpPr/>
          <p:nvPr/>
        </p:nvSpPr>
        <p:spPr>
          <a:xfrm>
            <a:off x="1828800" y="3200400"/>
            <a:ext cx="2194560" cy="182880"/>
          </a:xfrm>
          <a:prstGeom prst="rect">
            <a:avLst/>
          </a:prstGeom>
          <a:solidFill>
            <a:srgbClr val="2F6F4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883664" y="30175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920240" y="3419856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E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id_candidato (PK)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E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nome, email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E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id_usuario (FK)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937760" y="3017520"/>
            <a:ext cx="22860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EDBD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37760" y="3017520"/>
            <a:ext cx="2286000" cy="365760"/>
          </a:xfrm>
          <a:prstGeom prst="roundRect">
            <a:avLst>
              <a:gd name="adj" fmla="val 15000"/>
            </a:avLst>
          </a:prstGeom>
          <a:solidFill>
            <a:srgbClr val="C98A2C"/>
          </a:solidFill>
          <a:ln/>
        </p:spPr>
      </p:sp>
      <p:sp>
        <p:nvSpPr>
          <p:cNvPr id="16" name="Shape 14"/>
          <p:cNvSpPr/>
          <p:nvPr/>
        </p:nvSpPr>
        <p:spPr>
          <a:xfrm>
            <a:off x="4937760" y="3200400"/>
            <a:ext cx="2286000" cy="182880"/>
          </a:xfrm>
          <a:prstGeom prst="rect">
            <a:avLst/>
          </a:prstGeom>
          <a:solidFill>
            <a:srgbClr val="C98A2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992624" y="301752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candidatura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0" y="3419856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E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id_candidatura (PK)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E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data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E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observacoes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229600" y="3017520"/>
            <a:ext cx="21031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EDBD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3017520"/>
            <a:ext cx="2103120" cy="365760"/>
          </a:xfrm>
          <a:prstGeom prst="roundRect">
            <a:avLst>
              <a:gd name="adj" fmla="val 15000"/>
            </a:avLst>
          </a:prstGeom>
          <a:solidFill>
            <a:srgbClr val="2F6F4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0" y="3200400"/>
            <a:ext cx="2103120" cy="182880"/>
          </a:xfrm>
          <a:prstGeom prst="rect">
            <a:avLst/>
          </a:prstGeom>
          <a:solidFill>
            <a:srgbClr val="2F6F4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84464" y="301752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vaga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3419856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E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id_vaga (PK)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E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titulo, status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E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id_departamento (FK)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828800" y="4754880"/>
            <a:ext cx="21945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5875">
            <a:solidFill>
              <a:srgbClr val="DEDBD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28800" y="4754880"/>
            <a:ext cx="2194560" cy="365760"/>
          </a:xfrm>
          <a:prstGeom prst="roundRect">
            <a:avLst>
              <a:gd name="adj" fmla="val 15000"/>
            </a:avLst>
          </a:prstGeom>
          <a:solidFill>
            <a:srgbClr val="2F6F4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28800" y="4937760"/>
            <a:ext cx="2194560" cy="182880"/>
          </a:xfrm>
          <a:prstGeom prst="rect">
            <a:avLst/>
          </a:prstGeom>
          <a:solidFill>
            <a:srgbClr val="2F6F4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883664" y="475488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920240" y="5157216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E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id_usuario (PK)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E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senha_hash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E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tipo_usuario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 flipH="1">
            <a:off x="2926080" y="2560320"/>
            <a:ext cx="3154680" cy="457200"/>
          </a:xfrm>
          <a:prstGeom prst="line">
            <a:avLst/>
          </a:prstGeom>
          <a:noFill/>
          <a:ln w="19050">
            <a:solidFill>
              <a:srgbClr val="6E746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80760" y="2560320"/>
            <a:ext cx="3200400" cy="457200"/>
          </a:xfrm>
          <a:prstGeom prst="line">
            <a:avLst/>
          </a:prstGeom>
          <a:noFill/>
          <a:ln w="19050">
            <a:solidFill>
              <a:srgbClr val="6E746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23360" y="3566160"/>
            <a:ext cx="914400" cy="9144"/>
          </a:xfrm>
          <a:prstGeom prst="line">
            <a:avLst/>
          </a:prstGeom>
          <a:noFill/>
          <a:ln w="19050">
            <a:solidFill>
              <a:srgbClr val="6E746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223760" y="3566160"/>
            <a:ext cx="1005840" cy="9144"/>
          </a:xfrm>
          <a:prstGeom prst="line">
            <a:avLst/>
          </a:prstGeom>
          <a:noFill/>
          <a:ln w="19050">
            <a:solidFill>
              <a:srgbClr val="6E746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926080" y="4114800"/>
            <a:ext cx="9144" cy="640080"/>
          </a:xfrm>
          <a:prstGeom prst="line">
            <a:avLst/>
          </a:prstGeom>
          <a:noFill/>
          <a:ln w="19050">
            <a:solidFill>
              <a:srgbClr val="6E746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513832" y="2560320"/>
            <a:ext cx="457200" cy="201168"/>
          </a:xfrm>
          <a:prstGeom prst="rect">
            <a:avLst/>
          </a:prstGeom>
          <a:solidFill>
            <a:srgbClr val="F4F3EE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513832" y="25603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4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044952" y="2743200"/>
            <a:ext cx="457200" cy="201168"/>
          </a:xfrm>
          <a:prstGeom prst="rect">
            <a:avLst/>
          </a:prstGeom>
          <a:solidFill>
            <a:srgbClr val="F4F3EE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3044952" y="27432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4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336792" y="2560320"/>
            <a:ext cx="457200" cy="201168"/>
          </a:xfrm>
          <a:prstGeom prst="rect">
            <a:avLst/>
          </a:prstGeom>
          <a:solidFill>
            <a:srgbClr val="F4F3EE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336792" y="25603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4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805672" y="2743200"/>
            <a:ext cx="457200" cy="201168"/>
          </a:xfrm>
          <a:prstGeom prst="rect">
            <a:avLst/>
          </a:prstGeom>
          <a:solidFill>
            <a:srgbClr val="F4F3EE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805672" y="27432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4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023360" y="3328416"/>
            <a:ext cx="457200" cy="201168"/>
          </a:xfrm>
          <a:prstGeom prst="rect">
            <a:avLst/>
          </a:prstGeom>
          <a:solidFill>
            <a:srgbClr val="F4F3EE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4023360" y="33284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4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53712" y="3328416"/>
            <a:ext cx="457200" cy="201168"/>
          </a:xfrm>
          <a:prstGeom prst="rect">
            <a:avLst/>
          </a:prstGeom>
          <a:solidFill>
            <a:srgbClr val="F4F3EE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4553712" y="33284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4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223760" y="3328416"/>
            <a:ext cx="457200" cy="201168"/>
          </a:xfrm>
          <a:prstGeom prst="rect">
            <a:avLst/>
          </a:prstGeom>
          <a:solidFill>
            <a:srgbClr val="F4F3EE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7223760" y="33284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4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863840" y="3328416"/>
            <a:ext cx="457200" cy="201168"/>
          </a:xfrm>
          <a:prstGeom prst="rect">
            <a:avLst/>
          </a:prstGeom>
          <a:solidFill>
            <a:srgbClr val="F4F3EE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7863840" y="33284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4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953512" y="4151376"/>
            <a:ext cx="594360" cy="201168"/>
          </a:xfrm>
          <a:prstGeom prst="rect">
            <a:avLst/>
          </a:prstGeom>
          <a:solidFill>
            <a:srgbClr val="F4F3EE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2953512" y="415137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4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(0,1)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953512" y="4462272"/>
            <a:ext cx="594360" cy="201168"/>
          </a:xfrm>
          <a:prstGeom prst="rect">
            <a:avLst/>
          </a:prstGeom>
          <a:solidFill>
            <a:srgbClr val="F4F3EE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2953512" y="446227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4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(0,1)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48640" y="617220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2F6F4E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822960" y="61264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 principal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3108960" y="617220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C98A2C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3383280" y="61264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 associativa (resolve N:M)</a:t>
            </a:r>
            <a:endParaRPr lang="en-US" sz="1100" dirty="0"/>
          </a:p>
        </p:txBody>
      </p:sp>
      <p:sp>
        <p:nvSpPr>
          <p:cNvPr id="58" name="Text 56"/>
          <p:cNvSpPr txBox="1"/>
          <p:nvPr/>
        </p:nvSpPr>
        <p:spPr>
          <a:xfrm>
            <a:off x="7315200" y="61264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6E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= um  ·  N = muitos  ·  (0,1) = zero ou um (opcional)</a:t>
            </a:r>
            <a:endParaRPr lang="en-US" sz="1050" dirty="0"/>
          </a:p>
        </p:txBody>
      </p:sp>
      <p:sp>
        <p:nvSpPr>
          <p:cNvPr id="59" name="Text 57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TalentBase — Diagrama Entidade-Relacionamento</a:t>
            </a:r>
            <a:endParaRPr lang="en-US" sz="900" dirty="0"/>
          </a:p>
        </p:txBody>
      </p:sp>
      <p:sp>
        <p:nvSpPr>
          <p:cNvPr id="60" name="Text 58"/>
          <p:cNvSpPr txBox="1"/>
          <p:nvPr/>
        </p:nvSpPr>
        <p:spPr>
          <a:xfrm>
            <a:off x="10515600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DIAGRAMA (DER)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Habilidades, experiências e histórico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828800" cy="1005840"/>
          </a:xfrm>
          <a:prstGeom prst="roundRect">
            <a:avLst>
              <a:gd name="adj" fmla="val 5455"/>
            </a:avLst>
          </a:prstGeom>
          <a:solidFill>
            <a:srgbClr val="F4F3EE"/>
          </a:solidFill>
          <a:ln w="12700">
            <a:solidFill>
              <a:srgbClr val="6E7468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603504" y="155448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834640" y="1554480"/>
            <a:ext cx="192024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5875">
            <a:solidFill>
              <a:srgbClr val="DEDBD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1554480"/>
            <a:ext cx="1920240" cy="365760"/>
          </a:xfrm>
          <a:prstGeom prst="roundRect">
            <a:avLst>
              <a:gd name="adj" fmla="val 15000"/>
            </a:avLst>
          </a:prstGeom>
          <a:solidFill>
            <a:srgbClr val="C98A2C"/>
          </a:solidFill>
          <a:ln/>
        </p:spPr>
      </p:sp>
      <p:sp>
        <p:nvSpPr>
          <p:cNvPr id="8" name="Shape 6"/>
          <p:cNvSpPr/>
          <p:nvPr/>
        </p:nvSpPr>
        <p:spPr>
          <a:xfrm>
            <a:off x="2834640" y="1737360"/>
            <a:ext cx="1920240" cy="182880"/>
          </a:xfrm>
          <a:prstGeom prst="rect">
            <a:avLst/>
          </a:prstGeom>
          <a:solidFill>
            <a:srgbClr val="C98A2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89504" y="155448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candidato_habilidade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212080" y="1554480"/>
            <a:ext cx="18288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5875">
            <a:solidFill>
              <a:srgbClr val="DEDBD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12080" y="155448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2F6F4E"/>
          </a:solidFill>
          <a:ln/>
        </p:spPr>
      </p:sp>
      <p:sp>
        <p:nvSpPr>
          <p:cNvPr id="12" name="Shape 10"/>
          <p:cNvSpPr/>
          <p:nvPr/>
        </p:nvSpPr>
        <p:spPr>
          <a:xfrm>
            <a:off x="5212080" y="1737360"/>
            <a:ext cx="1828800" cy="182880"/>
          </a:xfrm>
          <a:prstGeom prst="rect">
            <a:avLst/>
          </a:prstGeom>
          <a:solidFill>
            <a:srgbClr val="2F6F4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266944" y="155448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303520" y="195681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E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id_habilidade (PK)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E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498080" y="1554480"/>
            <a:ext cx="192024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5875">
            <a:solidFill>
              <a:srgbClr val="DEDBD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0" y="1554480"/>
            <a:ext cx="1920240" cy="365760"/>
          </a:xfrm>
          <a:prstGeom prst="roundRect">
            <a:avLst>
              <a:gd name="adj" fmla="val 15000"/>
            </a:avLst>
          </a:prstGeom>
          <a:solidFill>
            <a:srgbClr val="C98A2C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0" y="1737360"/>
            <a:ext cx="1920240" cy="182880"/>
          </a:xfrm>
          <a:prstGeom prst="rect">
            <a:avLst/>
          </a:prstGeom>
          <a:solidFill>
            <a:srgbClr val="C98A2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552944" y="155448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vaga_habilidade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875520" y="1554480"/>
            <a:ext cx="1828800" cy="1005840"/>
          </a:xfrm>
          <a:prstGeom prst="roundRect">
            <a:avLst>
              <a:gd name="adj" fmla="val 5455"/>
            </a:avLst>
          </a:prstGeom>
          <a:solidFill>
            <a:srgbClr val="F4F3EE"/>
          </a:solidFill>
          <a:ln w="12700">
            <a:solidFill>
              <a:srgbClr val="6E7468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9930384" y="155448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377440" y="2057400"/>
            <a:ext cx="457200" cy="9144"/>
          </a:xfrm>
          <a:prstGeom prst="line">
            <a:avLst/>
          </a:prstGeom>
          <a:noFill/>
          <a:ln w="19050">
            <a:solidFill>
              <a:srgbClr val="6E746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2057400"/>
            <a:ext cx="457200" cy="9144"/>
          </a:xfrm>
          <a:prstGeom prst="line">
            <a:avLst/>
          </a:prstGeom>
          <a:noFill/>
          <a:ln w="19050">
            <a:solidFill>
              <a:srgbClr val="6E746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40880" y="2057400"/>
            <a:ext cx="457200" cy="9144"/>
          </a:xfrm>
          <a:prstGeom prst="line">
            <a:avLst/>
          </a:prstGeom>
          <a:noFill/>
          <a:ln w="19050">
            <a:solidFill>
              <a:srgbClr val="6E746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18320" y="2057400"/>
            <a:ext cx="457200" cy="9144"/>
          </a:xfrm>
          <a:prstGeom prst="line">
            <a:avLst/>
          </a:prstGeom>
          <a:noFill/>
          <a:ln w="19050">
            <a:solidFill>
              <a:srgbClr val="6E746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86584" y="1938528"/>
            <a:ext cx="201168" cy="201168"/>
          </a:xfrm>
          <a:prstGeom prst="rect">
            <a:avLst/>
          </a:prstGeom>
          <a:solidFill>
            <a:srgbClr val="F4F3E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2386584" y="19385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4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87752" y="1938528"/>
            <a:ext cx="201168" cy="201168"/>
          </a:xfrm>
          <a:prstGeom prst="rect">
            <a:avLst/>
          </a:prstGeom>
          <a:solidFill>
            <a:srgbClr val="F4F3E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2587752" y="19385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4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64024" y="1938528"/>
            <a:ext cx="201168" cy="201168"/>
          </a:xfrm>
          <a:prstGeom prst="rect">
            <a:avLst/>
          </a:prstGeom>
          <a:solidFill>
            <a:srgbClr val="F4F3E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764024" y="19385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4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965192" y="1938528"/>
            <a:ext cx="201168" cy="201168"/>
          </a:xfrm>
          <a:prstGeom prst="rect">
            <a:avLst/>
          </a:prstGeom>
          <a:solidFill>
            <a:srgbClr val="F4F3E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965192" y="19385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4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050024" y="1938528"/>
            <a:ext cx="201168" cy="201168"/>
          </a:xfrm>
          <a:prstGeom prst="rect">
            <a:avLst/>
          </a:prstGeom>
          <a:solidFill>
            <a:srgbClr val="F4F3EE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050024" y="19385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4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251192" y="1938528"/>
            <a:ext cx="201168" cy="201168"/>
          </a:xfrm>
          <a:prstGeom prst="rect">
            <a:avLst/>
          </a:prstGeom>
          <a:solidFill>
            <a:srgbClr val="F4F3E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251192" y="19385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4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427464" y="1938528"/>
            <a:ext cx="201168" cy="201168"/>
          </a:xfrm>
          <a:prstGeom prst="rect">
            <a:avLst/>
          </a:prstGeom>
          <a:solidFill>
            <a:srgbClr val="F4F3EE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9427464" y="19385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4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9628632" y="1938528"/>
            <a:ext cx="201168" cy="201168"/>
          </a:xfrm>
          <a:prstGeom prst="rect">
            <a:avLst/>
          </a:prstGeom>
          <a:solidFill>
            <a:srgbClr val="F4F3EE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9628632" y="19385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4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48640" y="3657600"/>
            <a:ext cx="25603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EDBD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8640" y="3657600"/>
            <a:ext cx="2560320" cy="365760"/>
          </a:xfrm>
          <a:prstGeom prst="roundRect">
            <a:avLst>
              <a:gd name="adj" fmla="val 15000"/>
            </a:avLst>
          </a:prstGeom>
          <a:solidFill>
            <a:srgbClr val="2F6F4E"/>
          </a:solidFill>
          <a:ln/>
        </p:spPr>
      </p:sp>
      <p:sp>
        <p:nvSpPr>
          <p:cNvPr id="43" name="Shape 41"/>
          <p:cNvSpPr/>
          <p:nvPr/>
        </p:nvSpPr>
        <p:spPr>
          <a:xfrm>
            <a:off x="548640" y="3840480"/>
            <a:ext cx="2560320" cy="182880"/>
          </a:xfrm>
          <a:prstGeom prst="rect">
            <a:avLst/>
          </a:prstGeom>
          <a:solidFill>
            <a:srgbClr val="2F6F4E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603504" y="3657600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experiencia_profissional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640080" y="4059936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E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id_experiencia (PK)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E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empresa, cargo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E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data_inicio, data_fim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029200" y="3657600"/>
            <a:ext cx="2103120" cy="1097280"/>
          </a:xfrm>
          <a:prstGeom prst="roundRect">
            <a:avLst>
              <a:gd name="adj" fmla="val 5000"/>
            </a:avLst>
          </a:prstGeom>
          <a:solidFill>
            <a:srgbClr val="F4F3EE"/>
          </a:solidFill>
          <a:ln w="12700">
            <a:solidFill>
              <a:srgbClr val="6E7468"/>
            </a:solidFill>
            <a:prstDash val="dash"/>
          </a:ln>
        </p:spPr>
      </p:sp>
      <p:sp>
        <p:nvSpPr>
          <p:cNvPr id="47" name="Text 45"/>
          <p:cNvSpPr txBox="1"/>
          <p:nvPr/>
        </p:nvSpPr>
        <p:spPr>
          <a:xfrm>
            <a:off x="5084064" y="365760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candidatura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229600" y="3657600"/>
            <a:ext cx="25603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EDBD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229600" y="3657600"/>
            <a:ext cx="2560320" cy="365760"/>
          </a:xfrm>
          <a:prstGeom prst="roundRect">
            <a:avLst>
              <a:gd name="adj" fmla="val 15000"/>
            </a:avLst>
          </a:prstGeom>
          <a:solidFill>
            <a:srgbClr val="2F6F4E"/>
          </a:solidFill>
          <a:ln/>
        </p:spPr>
      </p:sp>
      <p:sp>
        <p:nvSpPr>
          <p:cNvPr id="50" name="Shape 48"/>
          <p:cNvSpPr/>
          <p:nvPr/>
        </p:nvSpPr>
        <p:spPr>
          <a:xfrm>
            <a:off x="8229600" y="3840480"/>
            <a:ext cx="2560320" cy="182880"/>
          </a:xfrm>
          <a:prstGeom prst="rect">
            <a:avLst/>
          </a:prstGeom>
          <a:solidFill>
            <a:srgbClr val="2F6F4E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8284464" y="3657600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historico_candidatura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8321040" y="4059936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E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id_historico (PK)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E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data_mudanca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E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alterado_por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1463040" y="2560320"/>
            <a:ext cx="365760" cy="1097280"/>
          </a:xfrm>
          <a:prstGeom prst="line">
            <a:avLst/>
          </a:prstGeom>
          <a:noFill/>
          <a:ln w="19050">
            <a:solidFill>
              <a:srgbClr val="6E746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132320" y="4206240"/>
            <a:ext cx="1097280" cy="9144"/>
          </a:xfrm>
          <a:prstGeom prst="line">
            <a:avLst/>
          </a:prstGeom>
          <a:noFill/>
          <a:ln w="19050">
            <a:solidFill>
              <a:srgbClr val="6E746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88720" y="2724912"/>
            <a:ext cx="457200" cy="201168"/>
          </a:xfrm>
          <a:prstGeom prst="rect">
            <a:avLst/>
          </a:prstGeom>
          <a:solidFill>
            <a:srgbClr val="F4F3EE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1188720" y="272491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4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1828800" y="3383280"/>
            <a:ext cx="457200" cy="201168"/>
          </a:xfrm>
          <a:prstGeom prst="rect">
            <a:avLst/>
          </a:prstGeom>
          <a:solidFill>
            <a:srgbClr val="F4F3EE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1828800" y="33832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4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7150608" y="3968496"/>
            <a:ext cx="457200" cy="201168"/>
          </a:xfrm>
          <a:prstGeom prst="rect">
            <a:avLst/>
          </a:prstGeom>
          <a:solidFill>
            <a:srgbClr val="F4F3EE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7150608" y="396849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4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7863840" y="3968496"/>
            <a:ext cx="457200" cy="201168"/>
          </a:xfrm>
          <a:prstGeom prst="rect">
            <a:avLst/>
          </a:prstGeom>
          <a:solidFill>
            <a:srgbClr val="F4F3EE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7863840" y="396849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4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548640" y="617220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2F6F4E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822960" y="61264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 principal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3108960" y="617220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C98A2C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3383280" y="61264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associativa (M:N pura)</a:t>
            </a:r>
            <a:endParaRPr lang="en-US" sz="1100" dirty="0"/>
          </a:p>
        </p:txBody>
      </p:sp>
      <p:sp>
        <p:nvSpPr>
          <p:cNvPr id="67" name="Text 65"/>
          <p:cNvSpPr txBox="1"/>
          <p:nvPr/>
        </p:nvSpPr>
        <p:spPr>
          <a:xfrm>
            <a:off x="7863840" y="6126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6E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Tracejado = já detalhada no slide anterior</a:t>
            </a:r>
            <a:endParaRPr lang="en-US" sz="1050" dirty="0"/>
          </a:p>
        </p:txBody>
      </p:sp>
      <p:sp>
        <p:nvSpPr>
          <p:cNvPr id="68" name="Text 6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TalentBase — Diagrama Entidade-Relacionamento</a:t>
            </a:r>
            <a:endParaRPr lang="en-US" sz="900" dirty="0"/>
          </a:p>
        </p:txBody>
      </p:sp>
      <p:sp>
        <p:nvSpPr>
          <p:cNvPr id="69" name="Text 67"/>
          <p:cNvSpPr txBox="1"/>
          <p:nvPr/>
        </p:nvSpPr>
        <p:spPr>
          <a:xfrm>
            <a:off x="10515600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DIAGRAMA (DER)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Entidades e atributos — parte 1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2064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5875">
            <a:solidFill>
              <a:srgbClr val="DEDB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5120640" cy="457200"/>
          </a:xfrm>
          <a:prstGeom prst="roundRect">
            <a:avLst>
              <a:gd name="adj" fmla="val 14000"/>
            </a:avLst>
          </a:prstGeom>
          <a:solidFill>
            <a:srgbClr val="2F6F4E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28800"/>
            <a:ext cx="5120640" cy="228600"/>
          </a:xfrm>
          <a:prstGeom prst="rect">
            <a:avLst/>
          </a:prstGeom>
          <a:solidFill>
            <a:srgbClr val="2F6F4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600200"/>
            <a:ext cx="4791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167128"/>
            <a:ext cx="4791456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34F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id_usuario</a:t>
            </a:r>
            <a:pPr indent="0" marL="0">
              <a:buNone/>
            </a:pPr>
            <a:r>
              <a:rPr lang="en-US" sz="850" i="1" dirty="0">
                <a:solidFill>
                  <a:srgbClr val="234F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PK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535174"/>
            <a:ext cx="4791456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nome, email</a:t>
            </a:r>
            <a:pPr indent="0" marL="0">
              <a:buNone/>
            </a:pPr>
            <a:r>
              <a:rPr lang="en-US" sz="850" i="1" dirty="0">
                <a:solidFill>
                  <a:srgbClr val="6E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email UNIQUE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2903220"/>
            <a:ext cx="4791456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senha_hash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3271266"/>
            <a:ext cx="4791456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tipo_usuario</a:t>
            </a:r>
            <a:pPr indent="0" marL="0">
              <a:buNone/>
            </a:pPr>
            <a:r>
              <a:rPr lang="en-US" sz="850" i="1" dirty="0">
                <a:solidFill>
                  <a:srgbClr val="6E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RH | CANDIDATO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1600200"/>
            <a:ext cx="512064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5875">
            <a:solidFill>
              <a:srgbClr val="DEDBD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1600200"/>
            <a:ext cx="5120640" cy="457200"/>
          </a:xfrm>
          <a:prstGeom prst="roundRect">
            <a:avLst>
              <a:gd name="adj" fmla="val 14000"/>
            </a:avLst>
          </a:prstGeom>
          <a:solidFill>
            <a:srgbClr val="2F6F4E"/>
          </a:solidFill>
          <a:ln/>
        </p:spPr>
      </p:sp>
      <p:sp>
        <p:nvSpPr>
          <p:cNvPr id="14" name="Shape 12"/>
          <p:cNvSpPr/>
          <p:nvPr/>
        </p:nvSpPr>
        <p:spPr>
          <a:xfrm>
            <a:off x="6035040" y="1828800"/>
            <a:ext cx="5120640" cy="228600"/>
          </a:xfrm>
          <a:prstGeom prst="rect">
            <a:avLst/>
          </a:prstGeom>
          <a:solidFill>
            <a:srgbClr val="2F6F4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199632" y="1600200"/>
            <a:ext cx="4791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candidato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199632" y="2167128"/>
            <a:ext cx="4791456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34F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id_candidato</a:t>
            </a:r>
            <a:pPr indent="0" marL="0">
              <a:buNone/>
            </a:pPr>
            <a:r>
              <a:rPr lang="en-US" sz="850" i="1" dirty="0">
                <a:solidFill>
                  <a:srgbClr val="234F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PK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199632" y="2535174"/>
            <a:ext cx="4791456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3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id_usuario</a:t>
            </a:r>
            <a:pPr indent="0" marL="0">
              <a:buNone/>
            </a:pPr>
            <a:r>
              <a:rPr lang="en-US" sz="850" i="1" dirty="0">
                <a:solidFill>
                  <a:srgbClr val="6E7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FK · opcional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199632" y="2903220"/>
            <a:ext cx="4791456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3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id_departamento_interesse</a:t>
            </a:r>
            <a:pPr indent="0" marL="0">
              <a:buNone/>
            </a:pPr>
            <a:r>
              <a:rPr lang="en-US" sz="850" i="1" dirty="0">
                <a:solidFill>
                  <a:srgbClr val="6E7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FK · opcional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199632" y="3271266"/>
            <a:ext cx="4791456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nome, email, telefone, cidade/UF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114800"/>
            <a:ext cx="512064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5875">
            <a:solidFill>
              <a:srgbClr val="DEDBD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114800"/>
            <a:ext cx="5120640" cy="457200"/>
          </a:xfrm>
          <a:prstGeom prst="roundRect">
            <a:avLst>
              <a:gd name="adj" fmla="val 14000"/>
            </a:avLst>
          </a:prstGeom>
          <a:solidFill>
            <a:srgbClr val="2F6F4E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4343400"/>
            <a:ext cx="5120640" cy="228600"/>
          </a:xfrm>
          <a:prstGeom prst="rect">
            <a:avLst/>
          </a:prstGeom>
          <a:solidFill>
            <a:srgbClr val="2F6F4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13232" y="4114800"/>
            <a:ext cx="4791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departamento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13232" y="4681728"/>
            <a:ext cx="4791456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34F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id_departamento</a:t>
            </a:r>
            <a:pPr indent="0" marL="0">
              <a:buNone/>
            </a:pPr>
            <a:r>
              <a:rPr lang="en-US" sz="850" i="1" dirty="0">
                <a:solidFill>
                  <a:srgbClr val="234F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PK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713232" y="5417820"/>
            <a:ext cx="4791456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</a:t>
            </a:r>
            <a:pPr indent="0" marL="0">
              <a:buNone/>
            </a:pPr>
            <a:r>
              <a:rPr lang="en-US" sz="850" i="1" dirty="0">
                <a:solidFill>
                  <a:srgbClr val="6E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UNIQUE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035040" y="4114800"/>
            <a:ext cx="512064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5875">
            <a:solidFill>
              <a:srgbClr val="DEDBD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35040" y="4114800"/>
            <a:ext cx="5120640" cy="457200"/>
          </a:xfrm>
          <a:prstGeom prst="roundRect">
            <a:avLst>
              <a:gd name="adj" fmla="val 14000"/>
            </a:avLst>
          </a:prstGeom>
          <a:solidFill>
            <a:srgbClr val="2F6F4E"/>
          </a:solidFill>
          <a:ln/>
        </p:spPr>
      </p:sp>
      <p:sp>
        <p:nvSpPr>
          <p:cNvPr id="28" name="Shape 26"/>
          <p:cNvSpPr/>
          <p:nvPr/>
        </p:nvSpPr>
        <p:spPr>
          <a:xfrm>
            <a:off x="6035040" y="4343400"/>
            <a:ext cx="5120640" cy="228600"/>
          </a:xfrm>
          <a:prstGeom prst="rect">
            <a:avLst/>
          </a:prstGeom>
          <a:solidFill>
            <a:srgbClr val="2F6F4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199632" y="4114800"/>
            <a:ext cx="4791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habilidade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199632" y="4681728"/>
            <a:ext cx="4791456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34F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id_habilidade</a:t>
            </a:r>
            <a:pPr indent="0" marL="0">
              <a:buNone/>
            </a:pPr>
            <a:r>
              <a:rPr lang="en-US" sz="850" i="1" dirty="0">
                <a:solidFill>
                  <a:srgbClr val="234F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PK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199632" y="5417820"/>
            <a:ext cx="4791456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</a:t>
            </a:r>
            <a:pPr indent="0" marL="0">
              <a:buNone/>
            </a:pPr>
            <a:r>
              <a:rPr lang="en-US" sz="850" i="1" dirty="0">
                <a:solidFill>
                  <a:srgbClr val="6E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UNIQUE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TalentBase — Diagrama Entidade-Relacionamento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0515600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DIAGRAMA (DER)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Entidades e atributos — parte 2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2064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5875">
            <a:solidFill>
              <a:srgbClr val="DEDB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5120640" cy="457200"/>
          </a:xfrm>
          <a:prstGeom prst="roundRect">
            <a:avLst>
              <a:gd name="adj" fmla="val 14000"/>
            </a:avLst>
          </a:prstGeom>
          <a:solidFill>
            <a:srgbClr val="2F6F4E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28800"/>
            <a:ext cx="5120640" cy="228600"/>
          </a:xfrm>
          <a:prstGeom prst="rect">
            <a:avLst/>
          </a:prstGeom>
          <a:solidFill>
            <a:srgbClr val="2F6F4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600200"/>
            <a:ext cx="4791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vaga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167128"/>
            <a:ext cx="4791456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34F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id_vaga</a:t>
            </a:r>
            <a:pPr indent="0" marL="0">
              <a:buNone/>
            </a:pPr>
            <a:r>
              <a:rPr lang="en-US" sz="850" i="1" dirty="0">
                <a:solidFill>
                  <a:srgbClr val="234F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PK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535174"/>
            <a:ext cx="4791456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3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id_departamento</a:t>
            </a:r>
            <a:pPr indent="0" marL="0">
              <a:buNone/>
            </a:pPr>
            <a:r>
              <a:rPr lang="en-US" sz="850" i="1" dirty="0">
                <a:solidFill>
                  <a:srgbClr val="6E7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FK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2903220"/>
            <a:ext cx="4791456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titulo, localizacao, modalidade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3271266"/>
            <a:ext cx="4791456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experiencia_minima_meses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1600200"/>
            <a:ext cx="512064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5875">
            <a:solidFill>
              <a:srgbClr val="DEDBD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1600200"/>
            <a:ext cx="5120640" cy="457200"/>
          </a:xfrm>
          <a:prstGeom prst="roundRect">
            <a:avLst>
              <a:gd name="adj" fmla="val 14000"/>
            </a:avLst>
          </a:prstGeom>
          <a:solidFill>
            <a:srgbClr val="C98A2C"/>
          </a:solidFill>
          <a:ln/>
        </p:spPr>
      </p:sp>
      <p:sp>
        <p:nvSpPr>
          <p:cNvPr id="14" name="Shape 12"/>
          <p:cNvSpPr/>
          <p:nvPr/>
        </p:nvSpPr>
        <p:spPr>
          <a:xfrm>
            <a:off x="6035040" y="1828800"/>
            <a:ext cx="5120640" cy="228600"/>
          </a:xfrm>
          <a:prstGeom prst="rect">
            <a:avLst/>
          </a:prstGeom>
          <a:solidFill>
            <a:srgbClr val="C98A2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199632" y="1600200"/>
            <a:ext cx="4791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candidatura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199632" y="2167128"/>
            <a:ext cx="4791456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34F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id_candidatura</a:t>
            </a:r>
            <a:pPr indent="0" marL="0">
              <a:buNone/>
            </a:pPr>
            <a:r>
              <a:rPr lang="en-US" sz="850" i="1" dirty="0">
                <a:solidFill>
                  <a:srgbClr val="234F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PK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199632" y="2535174"/>
            <a:ext cx="4791456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3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id_candidato, id_vaga</a:t>
            </a:r>
            <a:pPr indent="0" marL="0">
              <a:buNone/>
            </a:pPr>
            <a:r>
              <a:rPr lang="en-US" sz="850" i="1" dirty="0">
                <a:solidFill>
                  <a:srgbClr val="6E7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FK · UNIQUE juntos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199632" y="2903220"/>
            <a:ext cx="4791456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data_candidatura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199632" y="3271266"/>
            <a:ext cx="4791456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observacoes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114800"/>
            <a:ext cx="512064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5875">
            <a:solidFill>
              <a:srgbClr val="DEDBD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114800"/>
            <a:ext cx="5120640" cy="457200"/>
          </a:xfrm>
          <a:prstGeom prst="roundRect">
            <a:avLst>
              <a:gd name="adj" fmla="val 14000"/>
            </a:avLst>
          </a:prstGeom>
          <a:solidFill>
            <a:srgbClr val="2F6F4E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4343400"/>
            <a:ext cx="5120640" cy="228600"/>
          </a:xfrm>
          <a:prstGeom prst="rect">
            <a:avLst/>
          </a:prstGeom>
          <a:solidFill>
            <a:srgbClr val="2F6F4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13232" y="4114800"/>
            <a:ext cx="4791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experiencia_profissional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13232" y="4681728"/>
            <a:ext cx="4791456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34F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id_experiencia</a:t>
            </a:r>
            <a:pPr indent="0" marL="0">
              <a:buNone/>
            </a:pPr>
            <a:r>
              <a:rPr lang="en-US" sz="850" i="1" dirty="0">
                <a:solidFill>
                  <a:srgbClr val="234F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PK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713232" y="5049774"/>
            <a:ext cx="4791456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3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id_candidato</a:t>
            </a:r>
            <a:pPr indent="0" marL="0">
              <a:buNone/>
            </a:pPr>
            <a:r>
              <a:rPr lang="en-US" sz="850" i="1" dirty="0">
                <a:solidFill>
                  <a:srgbClr val="6E7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FK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713232" y="5417820"/>
            <a:ext cx="4791456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empresa, cargo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713232" y="5785866"/>
            <a:ext cx="4791456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data_inicio, data_fim</a:t>
            </a:r>
            <a:pPr indent="0" marL="0">
              <a:buNone/>
            </a:pPr>
            <a:r>
              <a:rPr lang="en-US" sz="850" i="1" dirty="0">
                <a:solidFill>
                  <a:srgbClr val="6E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data_fim NULL = atual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35040" y="4114800"/>
            <a:ext cx="512064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5875">
            <a:solidFill>
              <a:srgbClr val="DEDBD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35040" y="4114800"/>
            <a:ext cx="5120640" cy="457200"/>
          </a:xfrm>
          <a:prstGeom prst="roundRect">
            <a:avLst>
              <a:gd name="adj" fmla="val 14000"/>
            </a:avLst>
          </a:prstGeom>
          <a:solidFill>
            <a:srgbClr val="2F6F4E"/>
          </a:solidFill>
          <a:ln/>
        </p:spPr>
      </p:sp>
      <p:sp>
        <p:nvSpPr>
          <p:cNvPr id="30" name="Shape 28"/>
          <p:cNvSpPr/>
          <p:nvPr/>
        </p:nvSpPr>
        <p:spPr>
          <a:xfrm>
            <a:off x="6035040" y="4343400"/>
            <a:ext cx="5120640" cy="228600"/>
          </a:xfrm>
          <a:prstGeom prst="rect">
            <a:avLst/>
          </a:prstGeom>
          <a:solidFill>
            <a:srgbClr val="2F6F4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199632" y="4114800"/>
            <a:ext cx="4791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historico_candidatura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199632" y="4681728"/>
            <a:ext cx="4791456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34F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id_historico</a:t>
            </a:r>
            <a:pPr indent="0" marL="0">
              <a:buNone/>
            </a:pPr>
            <a:r>
              <a:rPr lang="en-US" sz="850" i="1" dirty="0">
                <a:solidFill>
                  <a:srgbClr val="234F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PK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6199632" y="5049774"/>
            <a:ext cx="4791456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3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id_candidatura</a:t>
            </a:r>
            <a:pPr indent="0" marL="0">
              <a:buNone/>
            </a:pPr>
            <a:r>
              <a:rPr lang="en-US" sz="850" i="1" dirty="0">
                <a:solidFill>
                  <a:srgbClr val="6E74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FK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199632" y="5417820"/>
            <a:ext cx="4791456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data_mudanca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6199632" y="5785866"/>
            <a:ext cx="4791456" cy="368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alterado_por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TalentBase — Diagrama Entidade-Relacionamento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0515600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RELACIONAMENTOS E CARDINALIDADE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Relacionamentos 1:1 e 1:N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EDBD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01368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3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</a:t>
            </a:r>
            <a:pPr indent="0" marL="0">
              <a:buNone/>
            </a:pPr>
            <a:r>
              <a:rPr lang="en-US" sz="1250" b="1" dirty="0">
                <a:solidFill>
                  <a:srgbClr val="234F39"/>
                </a:solidFill>
              </a:rPr>
              <a:t>   (0,1) : (0,1)   </a:t>
            </a:r>
            <a:pPr indent="0" marL="0">
              <a:buNone/>
            </a:pPr>
            <a:r>
              <a:rPr lang="en-US" sz="1250" b="1" dirty="0">
                <a:solidFill>
                  <a:srgbClr val="1B23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candidato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4884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usuário possui no máximo um perfil de candidato. Um candidato pode não ter usuário — caso tenha sido cadastrado manualmente pelo RH.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862072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EDBD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971800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3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departamento</a:t>
            </a:r>
            <a:pPr indent="0" marL="0">
              <a:buNone/>
            </a:pPr>
            <a:r>
              <a:rPr lang="en-US" sz="1250" b="1" dirty="0">
                <a:solidFill>
                  <a:srgbClr val="234F39"/>
                </a:solidFill>
              </a:rPr>
              <a:t>   1 : N   </a:t>
            </a:r>
            <a:pPr indent="0" marL="0">
              <a:buNone/>
            </a:pPr>
            <a:r>
              <a:rPr lang="en-US" sz="1250" b="1" dirty="0">
                <a:solidFill>
                  <a:srgbClr val="1B23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candidato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319272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departamento pode interessar Muitos candidatos. Um candidato tem interesse em, no máximo, Um departamento.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032504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EDBD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4142232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3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departamento</a:t>
            </a:r>
            <a:pPr indent="0" marL="0">
              <a:buNone/>
            </a:pPr>
            <a:r>
              <a:rPr lang="en-US" sz="1250" b="1" dirty="0">
                <a:solidFill>
                  <a:srgbClr val="234F39"/>
                </a:solidFill>
              </a:rPr>
              <a:t>   1 : N   </a:t>
            </a:r>
            <a:pPr indent="0" marL="0">
              <a:buNone/>
            </a:pPr>
            <a:r>
              <a:rPr lang="en-US" sz="1250" b="1" dirty="0">
                <a:solidFill>
                  <a:srgbClr val="1B23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vaga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489704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departamento pode ter Muitas vagas. Uma vaga pertence a exatamente Um departamento.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5202936"/>
            <a:ext cx="106070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EDBD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5312664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3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candidato</a:t>
            </a:r>
            <a:pPr indent="0" marL="0">
              <a:buNone/>
            </a:pPr>
            <a:r>
              <a:rPr lang="en-US" sz="1250" b="1" dirty="0">
                <a:solidFill>
                  <a:srgbClr val="234F39"/>
                </a:solidFill>
              </a:rPr>
              <a:t>   1 : N   </a:t>
            </a:r>
            <a:pPr indent="0" marL="0">
              <a:buNone/>
            </a:pPr>
            <a:r>
              <a:rPr lang="en-US" sz="1250" b="1" dirty="0">
                <a:solidFill>
                  <a:srgbClr val="1B23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experiencia_profissional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5660136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candidato pode ter Muitas experiências profissionais. Uma experiência pertence a exatamente Um candidato.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TalentBase — Diagrama Entidade-Relacionamento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0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RELACIONAMENTOS E CARDINALIDADE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Relacionamentos N:M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607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EDBD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1965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candidato</a:t>
            </a:r>
            <a:pPr indent="0" marL="0">
              <a:buNone/>
            </a:pPr>
            <a:r>
              <a:rPr lang="en-US" sz="1300" b="1" dirty="0">
                <a:solidFill>
                  <a:srgbClr val="C98A2C"/>
                </a:solidFill>
              </a:rPr>
              <a:t>   N : M   </a:t>
            </a:r>
            <a:pPr indent="0" marL="0">
              <a:buNone/>
            </a:pPr>
            <a:r>
              <a:rPr lang="en-US" sz="1300" b="1" dirty="0">
                <a:solidFill>
                  <a:srgbClr val="1B23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habilidade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863840" y="1801368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FBF1D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63840" y="180136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8A5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resolvido por candidato_habilidade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258568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candidato pode ter Muitas habilidades. Uma habilidade pode pertencer a Muitos candidatos.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10607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EDBD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19125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vaga</a:t>
            </a:r>
            <a:pPr indent="0" marL="0">
              <a:buNone/>
            </a:pPr>
            <a:r>
              <a:rPr lang="en-US" sz="1300" b="1" dirty="0">
                <a:solidFill>
                  <a:srgbClr val="C98A2C"/>
                </a:solidFill>
              </a:rPr>
              <a:t>   N : M   </a:t>
            </a:r>
            <a:pPr indent="0" marL="0">
              <a:buNone/>
            </a:pPr>
            <a:r>
              <a:rPr lang="en-US" sz="1300" b="1" dirty="0">
                <a:solidFill>
                  <a:srgbClr val="1B23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habilidade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863840" y="3172968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FBF1D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863840" y="317296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8A5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resolvido por vaga_habilidade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630168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vaga pode exigir Muitas habilidades. Uma habilidade pode ser exigida por Muitas vagas.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434840"/>
            <a:ext cx="10607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EDBD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456285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candidato</a:t>
            </a:r>
            <a:pPr indent="0" marL="0">
              <a:buNone/>
            </a:pPr>
            <a:r>
              <a:rPr lang="en-US" sz="1300" b="1" dirty="0">
                <a:solidFill>
                  <a:srgbClr val="C98A2C"/>
                </a:solidFill>
              </a:rPr>
              <a:t>   N : M   </a:t>
            </a:r>
            <a:pPr indent="0" marL="0">
              <a:buNone/>
            </a:pPr>
            <a:r>
              <a:rPr lang="en-US" sz="1300" b="1" dirty="0">
                <a:solidFill>
                  <a:srgbClr val="1B23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vaga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863840" y="4544568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FBF1D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863840" y="454456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8A5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resolvido por candidatura (com atributos próprios)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5001768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candidato pode se candidatar a Muitas vagas. Uma vaga pode receber candidaturas de Muitos candidatos.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TalentBase — Diagrama Entidade-Relacionamento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0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DE MODELAGEM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Resolvendo os relacionamentos N:M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383280" cy="420624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EDBD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candidato_habilidade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86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 ↔ Habilidade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" y="2743200"/>
            <a:ext cx="2926080" cy="365760"/>
          </a:xfrm>
          <a:prstGeom prst="roundRect">
            <a:avLst>
              <a:gd name="adj" fmla="val 10000"/>
            </a:avLst>
          </a:prstGeom>
          <a:solidFill>
            <a:srgbClr val="F4F3EE"/>
          </a:solidFill>
          <a:ln w="9525">
            <a:solidFill>
              <a:srgbClr val="DEDBD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743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3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id_candidato (FK)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77240" y="3182112"/>
            <a:ext cx="2926080" cy="365760"/>
          </a:xfrm>
          <a:prstGeom prst="roundRect">
            <a:avLst>
              <a:gd name="adj" fmla="val 10000"/>
            </a:avLst>
          </a:prstGeom>
          <a:solidFill>
            <a:srgbClr val="F4F3EE"/>
          </a:solidFill>
          <a:ln w="9525">
            <a:solidFill>
              <a:srgbClr val="DEDBD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31821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3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id_habilidade (FK)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8463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E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associativa pura — só as duas chaves estrangeiras (PK composta).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51960" y="1691640"/>
            <a:ext cx="3383280" cy="420624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EDBD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80560" y="1920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vaga_habilidade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2286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Vaga ↔ Habilidade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80560" y="2743200"/>
            <a:ext cx="2926080" cy="365760"/>
          </a:xfrm>
          <a:prstGeom prst="roundRect">
            <a:avLst>
              <a:gd name="adj" fmla="val 10000"/>
            </a:avLst>
          </a:prstGeom>
          <a:solidFill>
            <a:srgbClr val="F4F3EE"/>
          </a:solidFill>
          <a:ln w="9525">
            <a:solidFill>
              <a:srgbClr val="DEDBD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17720" y="2743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3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id_vaga (FK)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480560" y="3182112"/>
            <a:ext cx="2926080" cy="365760"/>
          </a:xfrm>
          <a:prstGeom prst="roundRect">
            <a:avLst>
              <a:gd name="adj" fmla="val 10000"/>
            </a:avLst>
          </a:prstGeom>
          <a:solidFill>
            <a:srgbClr val="F4F3EE"/>
          </a:solidFill>
          <a:ln w="9525">
            <a:solidFill>
              <a:srgbClr val="DEDBD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17720" y="31821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3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id_habilidade (FK)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48463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E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lógica — evita repetir o nome da habilidade em texto livre.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955280" y="1691640"/>
            <a:ext cx="3383280" cy="4206240"/>
          </a:xfrm>
          <a:prstGeom prst="roundRect">
            <a:avLst>
              <a:gd name="adj" fmla="val 2162"/>
            </a:avLst>
          </a:prstGeom>
          <a:solidFill>
            <a:srgbClr val="FBF1DF"/>
          </a:solidFill>
          <a:ln w="19050">
            <a:solidFill>
              <a:srgbClr val="C98A2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83880" y="1920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candidatura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183880" y="2286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 ↔ Vaga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183880" y="2743200"/>
            <a:ext cx="292608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EDBD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321040" y="2743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3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id_candidato (FK)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183880" y="3182112"/>
            <a:ext cx="292608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EDBD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321040" y="31821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3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id_vaga (FK)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183880" y="3621024"/>
            <a:ext cx="292608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EDBD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321040" y="36210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3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83880" y="4059936"/>
            <a:ext cx="292608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EDBD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321040" y="40599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3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data_candidatura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183880" y="4498848"/>
            <a:ext cx="292608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EDBD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321040" y="449884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3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observacoes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8183880" y="48463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8A5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 associativa COM atributos próprios — o status pertence à relação, não a uma das duas entidades.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TalentBase — Diagrama Entidade-Relacionamento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0515600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DE MODELAGEM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Desafios que viramos regra de modelagem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1206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EDB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74520"/>
            <a:ext cx="365760" cy="365760"/>
          </a:xfrm>
          <a:prstGeom prst="ellipse">
            <a:avLst/>
          </a:prstGeom>
          <a:solidFill>
            <a:srgbClr val="2F6F4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847088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status é do candidato ou da candidatura?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42032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mock original, status vivia no candidato — impossível representar um candidato em etapas diferentes em duas vagas ao mesmo tempo. Solução: status virou atributo de candidatura, a relação entre os dois.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35040" y="1645920"/>
            <a:ext cx="51206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EDBD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874520"/>
            <a:ext cx="365760" cy="365760"/>
          </a:xfrm>
          <a:prstGeom prst="ellipse">
            <a:avLst/>
          </a:prstGeom>
          <a:solidFill>
            <a:srgbClr val="C98A2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6364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766560" y="1847088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Contador salvo ou calculado?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2542032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candidatesCount era um número solto, incrementado manualmente. Vira uma consulta COUNT() sobre candidatura — nunca fica dessincronizado.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1206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EDBD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343400"/>
            <a:ext cx="365760" cy="365760"/>
          </a:xfrm>
          <a:prstGeom prst="ellipse">
            <a:avLst/>
          </a:prstGeom>
          <a:solidFill>
            <a:srgbClr val="2F6F4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343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315968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Lista de texto ou tabela própria?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5010912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skills[] (array de texto) virou a entidade habilidade + duas tabelas associativas, permitindo comparar habilidades de vaga e candidato via JOIN.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5040" y="4114800"/>
            <a:ext cx="51206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EDBD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4343400"/>
            <a:ext cx="365760" cy="365760"/>
          </a:xfrm>
          <a:prstGeom prst="ellipse">
            <a:avLst/>
          </a:prstGeom>
          <a:solidFill>
            <a:srgbClr val="C98A2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63640" y="4343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766560" y="4315968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 é obrigatório para existir como candidato?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263640" y="5010912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— o RH pode cadastrar um candidato manualmente antes dele ter conta. usuario e candidato ficaram separados, com relação opcional (0,1):(0,1).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TalentBase — Diagrama Entidade-Relacionamento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0515600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3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9601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DER ao código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502920" cy="502920"/>
          </a:xfrm>
          <a:prstGeom prst="ellipse">
            <a:avLst/>
          </a:prstGeom>
          <a:solidFill>
            <a:srgbClr val="2F6F4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208483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Script MySQL (pronto)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42316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database/schema.sql — 10 tabelas, chaves, constraints e índices já implementados a partir deste DER.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3337560"/>
            <a:ext cx="502920" cy="502920"/>
          </a:xfrm>
          <a:prstGeom prst="ellipse">
            <a:avLst/>
          </a:prstGeom>
          <a:solidFill>
            <a:srgbClr val="2F6F4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331927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 Framework Core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65760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tabela vira uma classe C# (entidade) e um DbSet — o próximo passo natural do DER.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4572000"/>
            <a:ext cx="502920" cy="502920"/>
          </a:xfrm>
          <a:prstGeom prst="ellipse">
            <a:avLst/>
          </a:prstGeom>
          <a:solidFill>
            <a:srgbClr val="2F6F4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455371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Conectar ao front-end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489204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src/services/*.ts já isola os dados mockados; ver GUIA-BACKEND-ENDPOINTS.md para o endpoint que substitui cada função.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TalentBase — Diagrama Entidade-Relacionamento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0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3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468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8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TalentBase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97180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Perguntas?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2D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 completa em talentbase/docs/  ·  Script SQL em talentbase/database/schema.sql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2026-09-01T23:28:16Z</dcterms:created>
  <dcterms:modified xsi:type="dcterms:W3CDTF">2026-09-01T23:28:16Z</dcterms:modified>
</cp:coreProperties>
</file>